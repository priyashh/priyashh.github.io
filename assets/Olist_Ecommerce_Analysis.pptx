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Top 5 Categories by Revenue (R$)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Bed/Bath/Table</c:v>
                  </c:pt>
                  <c:pt idx="1">
                    <c:v>Health &amp; Beauty</c:v>
                  </c:pt>
                  <c:pt idx="2">
                    <c:v>Computers/Access.</c:v>
                  </c:pt>
                  <c:pt idx="3">
                    <c:v>Furniture/Décor</c:v>
                  </c:pt>
                  <c:pt idx="4">
                    <c:v>Watches &amp; Gifts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1712554</c:v>
                </c:pt>
                <c:pt idx="1">
                  <c:v>1657373</c:v>
                </c:pt>
                <c:pt idx="2">
                  <c:v>1585330</c:v>
                </c:pt>
                <c:pt idx="3">
                  <c:v>1430176</c:v>
                </c:pt>
                <c:pt idx="4">
                  <c:v>1429217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Payment Type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14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12542084</c:v>
                </c:pt>
                <c:pt idx="1">
                  <c:v>2869361</c:v>
                </c:pt>
                <c:pt idx="2">
                  <c:v>379437</c:v>
                </c:pt>
                <c:pt idx="3">
                  <c:v>217990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Revenue by State (Top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SP</c:v>
                  </c:pt>
                  <c:pt idx="1">
                    <c:v>RJ</c:v>
                  </c:pt>
                  <c:pt idx="2">
                    <c:v>MG</c:v>
                  </c:pt>
                  <c:pt idx="3">
                    <c:v>RS</c:v>
                  </c:pt>
                  <c:pt idx="4">
                    <c:v>PR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7597210</c:v>
                </c:pt>
                <c:pt idx="1">
                  <c:v>2769347</c:v>
                </c:pt>
                <c:pt idx="2">
                  <c:v>2326152</c:v>
                </c:pt>
                <c:pt idx="3">
                  <c:v>1147277</c:v>
                </c:pt>
                <c:pt idx="4">
                  <c:v>1064604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B4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Delivery Time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4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0-5 days</c:v>
                  </c:pt>
                  <c:pt idx="1">
                    <c:v>6-10 days</c:v>
                  </c:pt>
                  <c:pt idx="2">
                    <c:v>11-15 days</c:v>
                  </c:pt>
                  <c:pt idx="3">
                    <c:v>16-20 days</c:v>
                  </c:pt>
                  <c:pt idx="4">
                    <c:v>21-30 days</c:v>
                  </c:pt>
                  <c:pt idx="5">
                    <c:v>30+ days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28600</c:v>
                </c:pt>
                <c:pt idx="2">
                  <c:v>26400</c:v>
                </c:pt>
                <c:pt idx="3">
                  <c:v>16800</c:v>
                </c:pt>
                <c:pt idx="4">
                  <c:v>11900</c:v>
                </c:pt>
                <c:pt idx="5">
                  <c:v>4577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Review Score Distribution (99.2K Reviews)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★</c:v>
                  </c:pt>
                  <c:pt idx="1">
                    <c:v>2 ★</c:v>
                  </c:pt>
                  <c:pt idx="2">
                    <c:v>3 ★</c:v>
                  </c:pt>
                  <c:pt idx="3">
                    <c:v>4 ★</c:v>
                  </c:pt>
                  <c:pt idx="4">
                    <c:v>5 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B4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Sellers by State (Top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Sellers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SP</c:v>
                  </c:pt>
                  <c:pt idx="1">
                    <c:v>PR</c:v>
                  </c:pt>
                  <c:pt idx="2">
                    <c:v>MG</c:v>
                  </c:pt>
                  <c:pt idx="3">
                    <c:v>SC</c:v>
                  </c:pt>
                  <c:pt idx="4">
                    <c:v>RJ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694</c:v>
                </c:pt>
                <c:pt idx="1">
                  <c:v>349</c:v>
                </c:pt>
                <c:pt idx="2">
                  <c:v>244</c:v>
                </c:pt>
                <c:pt idx="3">
                  <c:v>190</c:v>
                </c:pt>
                <c:pt idx="4">
                  <c:v>171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image" Target="../media/image-8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8288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66160" y="914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566160" y="1645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566160" y="251460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2651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  |  100K+ Orders  |  Power BI + SQL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66160" y="32004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SQL · Power BI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Public Dataset (Kaggle)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73736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 – Oct 2018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914400"/>
            <a:ext cx="1965960" cy="17373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051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2316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2316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payment value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914400"/>
            <a:ext cx="1965960" cy="173736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515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57200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Brazil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20840" y="914400"/>
            <a:ext cx="1965960" cy="1737360"/>
          </a:xfrm>
          <a:prstGeom prst="rect">
            <a:avLst/>
          </a:prstGeom>
          <a:solidFill>
            <a:srgbClr val="1A6B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0515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72084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2084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65760" y="3200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100K+ orders from Olist, Brazil's largest e-commerce marketplace, covering 2 years of multi-seller platform data.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revenue drivers, delivery performance gaps, and customer satisfaction patterns.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actionable insights through Power BI dashboards and SQL-based querying.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54880" y="2788920"/>
            <a:ext cx="4023360" cy="205740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29184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on-time delivery rate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3016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6636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card: 78% of all revenue</a:t>
            </a:r>
            <a:endParaRPr lang="en-US" sz="11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96849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3950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drives 47% of revenue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306824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66360" y="4288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reviews: 57% of all reviews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976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976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timestamps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005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860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7860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 rows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7860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61772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2744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2744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2744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76656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6656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005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7628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7628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 rows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7628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004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231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976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2976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 rows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2976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dimensions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46888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46888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242316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7860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57860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rows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257860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locations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461772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61772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72744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72744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99,224 rows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72744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comments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76656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76656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42316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87628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687628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rows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687628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translations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365760" y="4480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16002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4" name="Text 44"/>
          <p:cNvSpPr/>
          <p:nvPr/>
        </p:nvSpPr>
        <p:spPr>
          <a:xfrm>
            <a:off x="16002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34290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6" name="Text 46"/>
          <p:cNvSpPr/>
          <p:nvPr/>
        </p:nvSpPr>
        <p:spPr>
          <a:xfrm>
            <a:off x="34290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52578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8" name="Text 48"/>
          <p:cNvSpPr/>
          <p:nvPr/>
        </p:nvSpPr>
        <p:spPr>
          <a:xfrm>
            <a:off x="52578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70866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0" name="Text 50"/>
          <p:cNvSpPr/>
          <p:nvPr/>
        </p:nvSpPr>
        <p:spPr>
          <a:xfrm>
            <a:off x="70866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822960"/>
          <a:ext cx="3108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413308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Bed/Bath/Table and Health &amp; Beauty dominate revenue — both are high-frequency, repeat-purchase categories. Credit card accounts for 78% of revenue, reflecting Brazil's installment-driven purchasing culture.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91440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2412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987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21792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· 47.5% of revenue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0" y="224028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69280" y="224028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5000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217920" y="2807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· 17.3% of revenue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669280" y="356616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669280" y="356616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758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3639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21792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 · 14.5% of revenue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9768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0392" y="42519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Southeast Brazil (SP+RJ+MG) accounts for ~79% of revenue. Opportunity: expand seller/buyer reach into Northern and Central-West regions.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46304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560320" cy="64008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560320" cy="1463040"/>
          </a:xfrm>
          <a:prstGeom prst="rect">
            <a:avLst/>
          </a:prstGeom>
          <a:solidFill>
            <a:srgbClr val="1A3D2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822960"/>
            <a:ext cx="2560320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60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2004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822960"/>
            <a:ext cx="2560320" cy="1463040"/>
          </a:xfrm>
          <a:prstGeom prst="rect">
            <a:avLst/>
          </a:prstGeom>
          <a:solidFill>
            <a:srgbClr val="3D2D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822960"/>
            <a:ext cx="2560320" cy="6400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60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0350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42316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Shape 14"/>
          <p:cNvSpPr/>
          <p:nvPr/>
        </p:nvSpPr>
        <p:spPr>
          <a:xfrm>
            <a:off x="5760720" y="2423160"/>
            <a:ext cx="3108960" cy="251460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01752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99632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delivered within 6–15 days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47472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963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correlate with Northern states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93192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99632" y="39136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~4.5K orders took 30+ days — review risk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3891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199632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linked to higher review scores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972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6208" y="9784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236208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69280" y="187452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574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6208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236208" y="2377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Reviews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669280" y="283464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0175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6208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6236208" y="3337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669280" y="379476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9776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6208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6236208" y="4297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/ 5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132B4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0624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68680" y="4142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 strong 57% 5-star rate confirms platform quality. However, 11.4% 1-star reviews — primarily tied to late deliveries and missing items — represent a significant loyalty risk. Addressing the bottom delivery failures directly improves this metric.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Sellers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6888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9875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46888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 State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6888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 of sellers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1772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875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Orders/Seller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61772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seller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6656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9875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R$5.2K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76656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Revenue/Seller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6656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2606040"/>
            <a:ext cx="8503920" cy="594360"/>
          </a:xfrm>
          <a:prstGeom prst="rect">
            <a:avLst/>
          </a:prstGeom>
          <a:solidFill>
            <a:srgbClr val="FFF9E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9748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6112" y="26517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Top 10% of sellers contribute ~65% of total order volume — high concentration creates platform dependency risk.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20040" y="3337560"/>
          <a:ext cx="5029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Shape 20"/>
          <p:cNvSpPr/>
          <p:nvPr/>
        </p:nvSpPr>
        <p:spPr>
          <a:xfrm>
            <a:off x="5577840" y="3337560"/>
            <a:ext cx="3291840" cy="1600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9" name="Text 21"/>
          <p:cNvSpPr/>
          <p:nvPr/>
        </p:nvSpPr>
        <p:spPr>
          <a:xfrm>
            <a:off x="576072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Insights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858768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9893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alone = 22% of all sellers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06240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98932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South/Southeast = 85% of all sellers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4553712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989320" y="4535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Northern sellers would cut delivery time for remote regions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50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850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08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3716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5 categories; diversification possible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756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0391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imbalance: ~80% revenue from Southeast Brazil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633472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7066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late delivery rate tied to Northern states &amp; remote areas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300984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107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3741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high but 1-star reviews spike with late deliveries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3968496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7822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40416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sellers drive 65% of orders — concentration risk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1298448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0817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13716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promotions in emerging categories (sports, toys)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754880" y="1965960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07568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20391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Northern logistics providers to cut delivery time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754880" y="2633472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74320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57800" y="27066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proactive SMS alerts for at-risk late deliveries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754880" y="3300984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10712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57800" y="33741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seller incentive programme to diversify seller base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4754880" y="3968496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078224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57800" y="40416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Northeast/North marketplace expansion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566160" y="6400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566160" y="128016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632" y="14813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handled R$16M+ in revenue across 99K orders with a strong 91.9% on-time delivery record.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2585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3632" y="223113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seller concentration pose strategic risks — addressable through logistics partnerships and seller onboarding.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083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13632" y="29809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satisfaction scores (4.09/5) confirm platform quality; sustaining this as volume scales is the key challenge.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75818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13632" y="37307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enables ongoing monitoring of all KPIs identified in this analysis.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3566160" y="4553712"/>
            <a:ext cx="5120640" cy="27432"/>
          </a:xfrm>
          <a:prstGeom prst="rect">
            <a:avLst/>
          </a:prstGeom>
          <a:solidFill>
            <a:srgbClr val="8AA0B2"/>
          </a:solidFill>
          <a:ln/>
        </p:spPr>
      </p:sp>
      <p:sp>
        <p:nvSpPr>
          <p:cNvPr id="17" name="Text 10"/>
          <p:cNvSpPr/>
          <p:nvPr/>
        </p:nvSpPr>
        <p:spPr>
          <a:xfrm>
            <a:off x="356616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Olist Public Dataset (Kaggle)  ·  Tools: Python · SQL · Power BI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Analysis</dc:title>
  <dc:subject>PptxGenJS Presentation</dc:subject>
  <dc:creator>PptxGenJS</dc:creator>
  <cp:lastModifiedBy>PptxGenJS</cp:lastModifiedBy>
  <cp:revision>1</cp:revision>
  <dcterms:created xsi:type="dcterms:W3CDTF">2026-04-15T19:31:59Z</dcterms:created>
  <dcterms:modified xsi:type="dcterms:W3CDTF">2026-04-15T19:31:59Z</dcterms:modified>
</cp:coreProperties>
</file>